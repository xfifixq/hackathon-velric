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B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4389120" cy="685800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8229600" y="1097280"/>
            <a:ext cx="292608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0080"/>
            <a:ext cx="7132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Skills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 Platform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65176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Arsenal FC Pilot Blueprint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57200" y="3246120"/>
            <a:ext cx="4114800" cy="36576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Sustained Futures  |  March 2026  |  For: Hannah Mansour, Director of ESG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5029200"/>
            <a:ext cx="2286000" cy="1371600"/>
          </a:xfrm>
          <a:prstGeom prst="rect">
            <a:avLst/>
          </a:prstGeom>
          <a:solidFill>
            <a:srgbClr val="7F1D1D"/>
          </a:solidFill>
          <a:ln w="19050">
            <a:solidFill>
              <a:srgbClr val="991B1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507492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2040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57200" y="56418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Zero Target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5943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SBTi Approved (World First)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926080" y="5029200"/>
            <a:ext cx="2286000" cy="1371600"/>
          </a:xfrm>
          <a:prstGeom prst="rect">
            <a:avLst/>
          </a:prstGeom>
          <a:solidFill>
            <a:srgbClr val="7F1D1D"/>
          </a:solidFill>
          <a:ln w="19050">
            <a:solidFill>
              <a:srgbClr val="991B1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926080" y="507492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76.1%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2926080" y="56418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of Total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926080" y="5943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emission category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394960" y="5029200"/>
            <a:ext cx="2286000" cy="1371600"/>
          </a:xfrm>
          <a:prstGeom prst="rect">
            <a:avLst/>
          </a:prstGeom>
          <a:solidFill>
            <a:srgbClr val="7F1D1D"/>
          </a:solidFill>
          <a:ln w="19050">
            <a:solidFill>
              <a:srgbClr val="991B1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394960" y="507492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~65%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5394960" y="56418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Currently Estimated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394960" y="5943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gap to close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Blueprint Covers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34440"/>
            <a:ext cx="502920" cy="155448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73736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411480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14400" y="1234440"/>
            <a:ext cx="548640" cy="15544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78308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14173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Arsenal's SBTi Targets &amp; Emission Profile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554480" y="192024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targets, baseline data, and what the numbers mean for delivery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11480" y="297180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11480" y="2971800"/>
            <a:ext cx="502920" cy="155448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11480" y="34747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520440"/>
            <a:ext cx="411480" cy="41148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14400" y="2971800"/>
            <a:ext cx="548640" cy="15544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3520440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31546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Delivery Pillars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554480" y="365760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net zero plan maps to operational action areas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11480" y="470916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11480" y="4709160"/>
            <a:ext cx="502920" cy="155448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11480" y="52120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257800"/>
            <a:ext cx="411480" cy="41148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914400" y="4709160"/>
            <a:ext cx="548640" cy="15544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" y="5257800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554480" y="48920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Functional Teams &amp; Their Roles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1554480" y="539496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what — with reduction levers and priority tiers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6263640" y="123444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6263640" y="1234440"/>
            <a:ext cx="502920" cy="155448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6263640" y="173736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1783080"/>
            <a:ext cx="411480" cy="41148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766560" y="1234440"/>
            <a:ext cx="548640" cy="15544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9712" y="1783080"/>
            <a:ext cx="384048" cy="38404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406640" y="14173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Capabilities Gap Map</a:t>
            </a:r>
            <a:endParaRPr lang="en-US" sz="1300" dirty="0"/>
          </a:p>
        </p:txBody>
      </p:sp>
      <p:sp>
        <p:nvSpPr>
          <p:cNvPr id="35" name="Text 25"/>
          <p:cNvSpPr/>
          <p:nvPr/>
        </p:nvSpPr>
        <p:spPr>
          <a:xfrm>
            <a:off x="7406640" y="192024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skills + Digital/AI capabilities per team, maturity scored 1-5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6263640" y="297180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6263640" y="2971800"/>
            <a:ext cx="502920" cy="155448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6263640" y="34747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0" y="3520440"/>
            <a:ext cx="411480" cy="411480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6766560" y="2971800"/>
            <a:ext cx="548640" cy="15544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39712" y="3520440"/>
            <a:ext cx="384048" cy="384048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7406640" y="31546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Interdependencies</a:t>
            </a:r>
            <a:endParaRPr lang="en-US" sz="1300" dirty="0"/>
          </a:p>
        </p:txBody>
      </p:sp>
      <p:sp>
        <p:nvSpPr>
          <p:cNvPr id="43" name="Text 31"/>
          <p:cNvSpPr/>
          <p:nvPr/>
        </p:nvSpPr>
        <p:spPr>
          <a:xfrm>
            <a:off x="7406640" y="365760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unlock logic: what must happen first, and why Legal + Procurement leads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6263640" y="470916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33"/>
          <p:cNvSpPr/>
          <p:nvPr/>
        </p:nvSpPr>
        <p:spPr>
          <a:xfrm>
            <a:off x="6263640" y="4709160"/>
            <a:ext cx="502920" cy="155448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46" name="Text 34"/>
          <p:cNvSpPr/>
          <p:nvPr/>
        </p:nvSpPr>
        <p:spPr>
          <a:xfrm>
            <a:off x="6263640" y="52120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0" y="5257800"/>
            <a:ext cx="411480" cy="411480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6766560" y="4709160"/>
            <a:ext cx="548640" cy="15544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39712" y="5257800"/>
            <a:ext cx="384048" cy="384048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7406640" y="48920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Time Horizon (Pareto)</a:t>
            </a:r>
            <a:endParaRPr lang="en-US" sz="1300" dirty="0"/>
          </a:p>
        </p:txBody>
      </p:sp>
      <p:sp>
        <p:nvSpPr>
          <p:cNvPr id="51" name="Text 37"/>
          <p:cNvSpPr/>
          <p:nvPr/>
        </p:nvSpPr>
        <p:spPr>
          <a:xfrm>
            <a:off x="7406640" y="539496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Sprint-level delivery plan, 2025–2040, with risk and reward in £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Arsenal's SBTi-Approved Net Zero Targets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Arsenal.com, Nov 2024 | World's first football club with SBTi-approved net zero target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474720" cy="51206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3474720" cy="4572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2030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−42%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1 &amp; 2 emissions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2021 baseline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246120"/>
            <a:ext cx="2743200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832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−52%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57200" y="41605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intensity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£1m revenue vs. 2021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800600"/>
            <a:ext cx="2743200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937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SBTi reporting required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51960" y="1188720"/>
            <a:ext cx="3474720" cy="51206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51960" y="1188720"/>
            <a:ext cx="3474720" cy="45720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1188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2040 — NET ZERO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43400" y="1828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−90%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4343400" y="2606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1 &amp; 2 emissions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2021 baseline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3246120"/>
            <a:ext cx="2743200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33832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EE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−97%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4343400" y="41605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intensity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£1m revenue vs. 2021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4800600"/>
            <a:ext cx="2743200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4937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FY2021/22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138160" y="1188720"/>
            <a:ext cx="3657600" cy="51206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1188720"/>
            <a:ext cx="3657600" cy="4572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FY2022/23 EMISSIONS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75320" y="19202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1 (Direct)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75320" y="21945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3,538,000 tCO₂e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378440" y="21945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17%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275320" y="2606040"/>
            <a:ext cx="3383280" cy="20116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75320" y="2606040"/>
            <a:ext cx="640080" cy="20116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75320" y="32918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2 (Energy)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75320" y="3566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2,136,230 tCO₂e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378440" y="35661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10.3%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275320" y="3977640"/>
            <a:ext cx="3383280" cy="20116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75320" y="3977640"/>
            <a:ext cx="393192" cy="20116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75320" y="46634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(Value Chain)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275320" y="49377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~15.1m tCO₂e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378440" y="49377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76.1%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275320" y="5349240"/>
            <a:ext cx="3383280" cy="20116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75320" y="5349240"/>
            <a:ext cx="2834640" cy="2011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75320" y="5897880"/>
            <a:ext cx="3383280" cy="3200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75320" y="5897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65% of S3 currently estimated — data gap is primary delivery risk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Delivery Pillars — From SBTi Action Plan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212848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212848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430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248" y="12801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93192" y="1920240"/>
            <a:ext cx="2066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Decarbonisation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93192" y="2468880"/>
            <a:ext cx="1920240" cy="2286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3192" y="24688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1 &amp; 2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11480" y="2816352"/>
            <a:ext cx="202996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LED, HVAC, battery dispatch optimisation, EV fleet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EmiratesSobha Realty TC, Hale End, offices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renewable electricity (Octopus Energy)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93192" y="5577840"/>
            <a:ext cx="2066544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571500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0664" y="5650992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~2,100 tCO₂e saved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2670048" y="1097280"/>
            <a:ext cx="2212848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670048" y="1097280"/>
            <a:ext cx="2212848" cy="77724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670048" y="11430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128016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743200" y="1920240"/>
            <a:ext cx="2066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&amp; Merchandise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2743200" y="2468880"/>
            <a:ext cx="1920240" cy="22860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2743200" y="24688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— HIGHEST IMPACT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2761488" y="2816352"/>
            <a:ext cx="202996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PCF, supplier SBTi clauses, licensed products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Adidas/JD Sports contracts, F&amp;B, logistics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suppliers by spend targeted first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2743200" y="5577840"/>
            <a:ext cx="2066544" cy="54864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9776" y="5715000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090672" y="5650992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~5,200 tCO₂e saved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5020056" y="1097280"/>
            <a:ext cx="2212848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020056" y="1097280"/>
            <a:ext cx="2212848" cy="7772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020056" y="11430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1280160"/>
            <a:ext cx="411480" cy="4114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093208" y="1920240"/>
            <a:ext cx="2066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&amp; Transport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5093208" y="2468880"/>
            <a:ext cx="1920240" cy="22860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5093208" y="24688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1, 2, 3</a:t>
            </a:r>
            <a:endParaRPr lang="en-US" sz="850" dirty="0"/>
          </a:p>
        </p:txBody>
      </p:sp>
      <p:sp>
        <p:nvSpPr>
          <p:cNvPr id="33" name="Text 26"/>
          <p:cNvSpPr/>
          <p:nvPr/>
        </p:nvSpPr>
        <p:spPr>
          <a:xfrm>
            <a:off x="5111496" y="2816352"/>
            <a:ext cx="202996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fleet, rail-first policy, Arsenal Direct delivery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commuting schemes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supplier delivery contracts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5093208" y="5577840"/>
            <a:ext cx="2066544" cy="54864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9784" y="5715000"/>
            <a:ext cx="256032" cy="25603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440680" y="5650992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~1,800 tCO₂e saved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7370064" y="1097280"/>
            <a:ext cx="2212848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7370064" y="1097280"/>
            <a:ext cx="2212848" cy="777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7370064" y="11430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34272" y="1280160"/>
            <a:ext cx="411480" cy="41148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443216" y="1920240"/>
            <a:ext cx="2066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&amp; Circular Economy</a:t>
            </a:r>
            <a:endParaRPr lang="en-US" sz="1200" dirty="0"/>
          </a:p>
        </p:txBody>
      </p:sp>
      <p:sp>
        <p:nvSpPr>
          <p:cNvPr id="42" name="Shape 33"/>
          <p:cNvSpPr/>
          <p:nvPr/>
        </p:nvSpPr>
        <p:spPr>
          <a:xfrm>
            <a:off x="7443216" y="2468880"/>
            <a:ext cx="1920240" cy="228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7443216" y="24688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1, 3</a:t>
            </a:r>
            <a:endParaRPr lang="en-US" sz="850" dirty="0"/>
          </a:p>
        </p:txBody>
      </p:sp>
      <p:sp>
        <p:nvSpPr>
          <p:cNvPr id="44" name="Text 35"/>
          <p:cNvSpPr/>
          <p:nvPr/>
        </p:nvSpPr>
        <p:spPr>
          <a:xfrm>
            <a:off x="7461504" y="2816352"/>
            <a:ext cx="202996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Zero-waste matchday target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take-back programme, water reduction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merchandise model</a:t>
            </a:r>
            <a:endParaRPr lang="en-US" sz="950" dirty="0"/>
          </a:p>
        </p:txBody>
      </p:sp>
      <p:sp>
        <p:nvSpPr>
          <p:cNvPr id="45" name="Shape 36"/>
          <p:cNvSpPr/>
          <p:nvPr/>
        </p:nvSpPr>
        <p:spPr>
          <a:xfrm>
            <a:off x="7443216" y="5577840"/>
            <a:ext cx="2066544" cy="54864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79792" y="5715000"/>
            <a:ext cx="256032" cy="256032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7790688" y="5650992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 tCO₂e saved</a:t>
            </a:r>
            <a:endParaRPr lang="en-US" sz="900" dirty="0"/>
          </a:p>
        </p:txBody>
      </p:sp>
      <p:sp>
        <p:nvSpPr>
          <p:cNvPr id="48" name="Shape 38"/>
          <p:cNvSpPr/>
          <p:nvPr/>
        </p:nvSpPr>
        <p:spPr>
          <a:xfrm>
            <a:off x="9720072" y="1097280"/>
            <a:ext cx="2212848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39"/>
          <p:cNvSpPr/>
          <p:nvPr/>
        </p:nvSpPr>
        <p:spPr>
          <a:xfrm>
            <a:off x="9720072" y="1097280"/>
            <a:ext cx="2212848" cy="77724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50" name="Text 40"/>
          <p:cNvSpPr/>
          <p:nvPr/>
        </p:nvSpPr>
        <p:spPr>
          <a:xfrm>
            <a:off x="9720072" y="11430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84280" y="1280160"/>
            <a:ext cx="411480" cy="411480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9793224" y="1920240"/>
            <a:ext cx="2066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&amp; Fan Engagement</a:t>
            </a:r>
            <a:endParaRPr lang="en-US" sz="1200" dirty="0"/>
          </a:p>
        </p:txBody>
      </p:sp>
      <p:sp>
        <p:nvSpPr>
          <p:cNvPr id="53" name="Shape 42"/>
          <p:cNvSpPr/>
          <p:nvPr/>
        </p:nvSpPr>
        <p:spPr>
          <a:xfrm>
            <a:off x="9793224" y="2468880"/>
            <a:ext cx="1920240" cy="22860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4" name="Text 43"/>
          <p:cNvSpPr/>
          <p:nvPr/>
        </p:nvSpPr>
        <p:spPr>
          <a:xfrm>
            <a:off x="9793224" y="24688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Influence</a:t>
            </a:r>
            <a:endParaRPr lang="en-US" sz="850" dirty="0"/>
          </a:p>
        </p:txBody>
      </p:sp>
      <p:sp>
        <p:nvSpPr>
          <p:cNvPr id="55" name="Text 44"/>
          <p:cNvSpPr/>
          <p:nvPr/>
        </p:nvSpPr>
        <p:spPr>
          <a:xfrm>
            <a:off x="9811512" y="2816352"/>
            <a:ext cx="202996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Action League (56,000+ actions logged)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Islington Climate Action Plan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sponsor + partner clauses</a:t>
            </a:r>
            <a:endParaRPr lang="en-US" sz="950" dirty="0"/>
          </a:p>
        </p:txBody>
      </p:sp>
      <p:sp>
        <p:nvSpPr>
          <p:cNvPr id="56" name="Shape 45"/>
          <p:cNvSpPr/>
          <p:nvPr/>
        </p:nvSpPr>
        <p:spPr>
          <a:xfrm>
            <a:off x="9793224" y="5577840"/>
            <a:ext cx="2066544" cy="54864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5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29800" y="5715000"/>
            <a:ext cx="256032" cy="256032"/>
          </a:xfrm>
          <a:prstGeom prst="rect">
            <a:avLst/>
          </a:prstGeom>
        </p:spPr>
      </p:pic>
      <p:sp>
        <p:nvSpPr>
          <p:cNvPr id="58" name="Text 46"/>
          <p:cNvSpPr/>
          <p:nvPr/>
        </p:nvSpPr>
        <p:spPr>
          <a:xfrm>
            <a:off x="10140696" y="5650992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 lever saved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&amp; Capability Gap Map — 10 Teams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86800" y="274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Maturity: 1 = No capability  |  3 = Developing  |  5 = Leading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2011680" cy="438912"/>
          </a:xfrm>
          <a:prstGeom prst="rect">
            <a:avLst/>
          </a:prstGeom>
          <a:solidFill>
            <a:srgbClr val="374151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76856" y="1078992"/>
            <a:ext cx="3200400" cy="438912"/>
          </a:xfrm>
          <a:prstGeom prst="rect">
            <a:avLst/>
          </a:prstGeom>
          <a:solidFill>
            <a:srgbClr val="374151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76856" y="1078992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513832" y="1078992"/>
            <a:ext cx="1097280" cy="438912"/>
          </a:xfrm>
          <a:prstGeom prst="rect">
            <a:avLst/>
          </a:prstGeom>
          <a:solidFill>
            <a:srgbClr val="374151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13832" y="1078992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647688" y="1078992"/>
            <a:ext cx="1097280" cy="438912"/>
          </a:xfrm>
          <a:prstGeom prst="rect">
            <a:avLst/>
          </a:prstGeom>
          <a:solidFill>
            <a:srgbClr val="374151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7688" y="1078992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781544" y="1078992"/>
            <a:ext cx="731520" cy="438912"/>
          </a:xfrm>
          <a:prstGeom prst="rect">
            <a:avLst/>
          </a:prstGeom>
          <a:solidFill>
            <a:srgbClr val="374151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81544" y="1078992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549640" y="1078992"/>
            <a:ext cx="3657600" cy="438912"/>
          </a:xfrm>
          <a:prstGeom prst="rect">
            <a:avLst/>
          </a:prstGeom>
          <a:solidFill>
            <a:srgbClr val="374151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107899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Unlock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1572768"/>
            <a:ext cx="2011680" cy="420624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" y="1591056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Procurement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76856" y="1572768"/>
            <a:ext cx="3200400" cy="420624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13432" y="1591056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supplier engagement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13832" y="1572768"/>
            <a:ext cx="1097280" cy="420624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0408" y="1591056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47688" y="1572768"/>
            <a:ext cx="1097280" cy="420624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84264" y="1591056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81544" y="1572768"/>
            <a:ext cx="731520" cy="420624"/>
          </a:xfrm>
          <a:prstGeom prst="rect">
            <a:avLst/>
          </a:prstGeom>
          <a:solidFill>
            <a:srgbClr val="FED7A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8120" y="1591056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549640" y="1572768"/>
            <a:ext cx="3657600" cy="420624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86216" y="1591056"/>
            <a:ext cx="3584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(climate clauses) → all S3 targets unlock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2048256"/>
            <a:ext cx="2011680" cy="420624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" y="2066544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Legal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276856" y="2048256"/>
            <a:ext cx="3200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13432" y="2066544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contract clause drafting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513832" y="2048256"/>
            <a:ext cx="1097280" cy="420624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50408" y="2066544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647688" y="2048256"/>
            <a:ext cx="1097280" cy="420624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84264" y="2066544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781544" y="2048256"/>
            <a:ext cx="731520" cy="420624"/>
          </a:xfrm>
          <a:prstGeom prst="rect">
            <a:avLst/>
          </a:prstGeom>
          <a:solidFill>
            <a:srgbClr val="FED7A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18120" y="2066544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549640" y="2048256"/>
            <a:ext cx="3657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86216" y="2066544"/>
            <a:ext cx="3584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cannot bind suppliers without this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28600" y="2523744"/>
            <a:ext cx="2011680" cy="420624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5176" y="2542032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Marketing/Retail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276856" y="2523744"/>
            <a:ext cx="3200400" cy="420624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13432" y="2542032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Carbon Footprinting (PCF)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513832" y="2523744"/>
            <a:ext cx="1097280" cy="420624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50408" y="2542032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647688" y="2523744"/>
            <a:ext cx="1097280" cy="420624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84264" y="2542032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7781544" y="2523744"/>
            <a:ext cx="731520" cy="420624"/>
          </a:xfrm>
          <a:prstGeom prst="rect">
            <a:avLst/>
          </a:prstGeom>
          <a:solidFill>
            <a:srgbClr val="FED7A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18120" y="2542032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549640" y="2523744"/>
            <a:ext cx="3657600" cy="420624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86216" y="2542032"/>
            <a:ext cx="3584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kit PCF requires supplier data from Procurement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28600" y="2999232"/>
            <a:ext cx="2011680" cy="420624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65176" y="30175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 IT &amp; Data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276856" y="2999232"/>
            <a:ext cx="3200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13432" y="3017520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data pipeline + carbon API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513832" y="2999232"/>
            <a:ext cx="1097280" cy="420624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50408" y="3017520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6647688" y="2999232"/>
            <a:ext cx="1097280" cy="420624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84264" y="3017520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7781544" y="2999232"/>
            <a:ext cx="731520" cy="420624"/>
          </a:xfrm>
          <a:prstGeom prst="rect">
            <a:avLst/>
          </a:prstGeom>
          <a:solidFill>
            <a:srgbClr val="FED7A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818120" y="3017520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8549640" y="2999232"/>
            <a:ext cx="3657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586216" y="3017520"/>
            <a:ext cx="3584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this, 65% S3 remains estimated permanently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28600" y="3474720"/>
            <a:ext cx="2011680" cy="420624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65176" y="3493008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Operations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276856" y="3474720"/>
            <a:ext cx="3200400" cy="420624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313432" y="3493008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 / Energy Management (ISO 50001)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5513832" y="3474720"/>
            <a:ext cx="1097280" cy="420624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550408" y="3493008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6647688" y="3474720"/>
            <a:ext cx="1097280" cy="420624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684264" y="3493008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7781544" y="3474720"/>
            <a:ext cx="731520" cy="420624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818120" y="349300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8549640" y="3474720"/>
            <a:ext cx="3657600" cy="420624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586216" y="3493008"/>
            <a:ext cx="3584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(data feeds) + Finance (capex) must co-invest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228600" y="3950208"/>
            <a:ext cx="2011680" cy="420624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65176" y="3968496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Finance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2276856" y="3950208"/>
            <a:ext cx="3200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313432" y="3968496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accounting + TCFD disclosure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5513832" y="3950208"/>
            <a:ext cx="1097280" cy="420624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550408" y="3968496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6647688" y="3950208"/>
            <a:ext cx="1097280" cy="420624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684264" y="3968496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7781544" y="3950208"/>
            <a:ext cx="731520" cy="420624"/>
          </a:xfrm>
          <a:prstGeom prst="rect">
            <a:avLst/>
          </a:prstGeom>
          <a:solidFill>
            <a:srgbClr val="FED7A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818120" y="3968496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8549640" y="3950208"/>
            <a:ext cx="3657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586216" y="3968496"/>
            <a:ext cx="3584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CSRD compliance requires this by 2026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228600" y="4425696"/>
            <a:ext cx="2011680" cy="420624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65176" y="4443984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 HR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2276856" y="4425696"/>
            <a:ext cx="3200400" cy="420624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313432" y="4443984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skills L&amp;D design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5513832" y="4425696"/>
            <a:ext cx="1097280" cy="420624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550408" y="4443984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95" name="Shape 93"/>
          <p:cNvSpPr/>
          <p:nvPr/>
        </p:nvSpPr>
        <p:spPr>
          <a:xfrm>
            <a:off x="6647688" y="4425696"/>
            <a:ext cx="1097280" cy="420624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684264" y="4443984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97" name="Shape 95"/>
          <p:cNvSpPr/>
          <p:nvPr/>
        </p:nvSpPr>
        <p:spPr>
          <a:xfrm>
            <a:off x="7781544" y="4425696"/>
            <a:ext cx="731520" cy="420624"/>
          </a:xfrm>
          <a:prstGeom prst="rect">
            <a:avLst/>
          </a:prstGeom>
          <a:solidFill>
            <a:srgbClr val="FED7A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818120" y="4443984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8549640" y="4425696"/>
            <a:ext cx="3657600" cy="420624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586216" y="4443984"/>
            <a:ext cx="3584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all other teams — cascade effect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228600" y="4901184"/>
            <a:ext cx="2011680" cy="420624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65176" y="4919472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T8 CxO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2276856" y="4901184"/>
            <a:ext cx="3200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313432" y="4919472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SBTi governance + climate leadership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5513832" y="4901184"/>
            <a:ext cx="1097280" cy="420624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550408" y="4919472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07" name="Shape 105"/>
          <p:cNvSpPr/>
          <p:nvPr/>
        </p:nvSpPr>
        <p:spPr>
          <a:xfrm>
            <a:off x="6647688" y="4901184"/>
            <a:ext cx="1097280" cy="420624"/>
          </a:xfrm>
          <a:prstGeom prst="rect">
            <a:avLst/>
          </a:prstGeom>
          <a:solidFill>
            <a:srgbClr val="A7F3D0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684264" y="4919472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109" name="Shape 107"/>
          <p:cNvSpPr/>
          <p:nvPr/>
        </p:nvSpPr>
        <p:spPr>
          <a:xfrm>
            <a:off x="7781544" y="4901184"/>
            <a:ext cx="731520" cy="420624"/>
          </a:xfrm>
          <a:prstGeom prst="rect">
            <a:avLst/>
          </a:prstGeom>
          <a:solidFill>
            <a:srgbClr val="FED7A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818120" y="4919472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11" name="Shape 109"/>
          <p:cNvSpPr/>
          <p:nvPr/>
        </p:nvSpPr>
        <p:spPr>
          <a:xfrm>
            <a:off x="8549640" y="4901184"/>
            <a:ext cx="3657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586216" y="4919472"/>
            <a:ext cx="3584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without which other teams cannot act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228600" y="5376672"/>
            <a:ext cx="2011680" cy="420624"/>
          </a:xfrm>
          <a:prstGeom prst="rect">
            <a:avLst/>
          </a:prstGeom>
          <a:solidFill>
            <a:srgbClr val="FEF9C3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65176" y="539496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 Logistics</a:t>
            </a:r>
            <a:endParaRPr lang="en-US" sz="950" dirty="0"/>
          </a:p>
        </p:txBody>
      </p:sp>
      <p:sp>
        <p:nvSpPr>
          <p:cNvPr id="115" name="Shape 113"/>
          <p:cNvSpPr/>
          <p:nvPr/>
        </p:nvSpPr>
        <p:spPr>
          <a:xfrm>
            <a:off x="2276856" y="5376672"/>
            <a:ext cx="3200400" cy="420624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313432" y="5394960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Last-mile delivery decarbonisation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5513832" y="5376672"/>
            <a:ext cx="1097280" cy="420624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550408" y="5394960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19" name="Shape 117"/>
          <p:cNvSpPr/>
          <p:nvPr/>
        </p:nvSpPr>
        <p:spPr>
          <a:xfrm>
            <a:off x="6647688" y="5376672"/>
            <a:ext cx="1097280" cy="420624"/>
          </a:xfrm>
          <a:prstGeom prst="rect">
            <a:avLst/>
          </a:prstGeom>
          <a:solidFill>
            <a:srgbClr val="FFF7ED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684264" y="5394960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21" name="Shape 119"/>
          <p:cNvSpPr/>
          <p:nvPr/>
        </p:nvSpPr>
        <p:spPr>
          <a:xfrm>
            <a:off x="7781544" y="5376672"/>
            <a:ext cx="731520" cy="420624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818120" y="5394960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23" name="Shape 121"/>
          <p:cNvSpPr/>
          <p:nvPr/>
        </p:nvSpPr>
        <p:spPr>
          <a:xfrm>
            <a:off x="8549640" y="5376672"/>
            <a:ext cx="3657600" cy="420624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586216" y="5394960"/>
            <a:ext cx="3584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(carrier contracts)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228600" y="5852160"/>
            <a:ext cx="2011680" cy="420624"/>
          </a:xfrm>
          <a:prstGeom prst="rect">
            <a:avLst/>
          </a:prstGeom>
          <a:solidFill>
            <a:srgbClr val="FEF9C3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265176" y="5870448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 Community</a:t>
            </a:r>
            <a:endParaRPr lang="en-US" sz="950" dirty="0"/>
          </a:p>
        </p:txBody>
      </p:sp>
      <p:sp>
        <p:nvSpPr>
          <p:cNvPr id="127" name="Shape 125"/>
          <p:cNvSpPr/>
          <p:nvPr/>
        </p:nvSpPr>
        <p:spPr>
          <a:xfrm>
            <a:off x="2276856" y="5852160"/>
            <a:ext cx="3200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2313432" y="5870448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change + fan engagement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5513832" y="5852160"/>
            <a:ext cx="1097280" cy="420624"/>
          </a:xfrm>
          <a:prstGeom prst="rect">
            <a:avLst/>
          </a:prstGeom>
          <a:solidFill>
            <a:srgbClr val="FFF7ED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550408" y="5870448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31" name="Shape 129"/>
          <p:cNvSpPr/>
          <p:nvPr/>
        </p:nvSpPr>
        <p:spPr>
          <a:xfrm>
            <a:off x="6647688" y="5852160"/>
            <a:ext cx="1097280" cy="420624"/>
          </a:xfrm>
          <a:prstGeom prst="rect">
            <a:avLst/>
          </a:prstGeom>
          <a:solidFill>
            <a:srgbClr val="A7F3D0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6684264" y="5870448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133" name="Shape 131"/>
          <p:cNvSpPr/>
          <p:nvPr/>
        </p:nvSpPr>
        <p:spPr>
          <a:xfrm>
            <a:off x="7781544" y="5852160"/>
            <a:ext cx="731520" cy="420624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7818120" y="58704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35" name="Shape 133"/>
          <p:cNvSpPr/>
          <p:nvPr/>
        </p:nvSpPr>
        <p:spPr>
          <a:xfrm>
            <a:off x="8549640" y="5852160"/>
            <a:ext cx="3657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8586216" y="5870448"/>
            <a:ext cx="3584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+ Commercial (Green Action League)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Interdependencies — The Unlock Logic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1612880" cy="59436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+ Procurement upskilling is the single highest-leverage intervention. It contractually and technically unlocks every Scope 3 reduction lever.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783080"/>
            <a:ext cx="5669280" cy="14630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783080"/>
            <a:ext cx="73152" cy="1463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856232"/>
            <a:ext cx="5413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I2: Climate clause library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21945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 →  Procurement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17720" y="1874520"/>
            <a:ext cx="1234440" cy="292608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8745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/ Q1 2026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38912" y="2496312"/>
            <a:ext cx="54132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drafts standard clauses → Procurement embeds in all supplier renewals → S3 data obligations legally binding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3401568"/>
            <a:ext cx="5669280" cy="14630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401568"/>
            <a:ext cx="73152" cy="1463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474720"/>
            <a:ext cx="5413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I1: Kit &amp; Merchandise PCF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" y="381304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Legal  →  Marketing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3493008"/>
            <a:ext cx="1234440" cy="292608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349300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/ 2026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38912" y="4114800"/>
            <a:ext cx="54132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secures Adidas data → Legal ensures PCF obligation in kit contract → Marketing builds PCF + eco-labels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5020056"/>
            <a:ext cx="5669280" cy="14630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5020056"/>
            <a:ext cx="73152" cy="14630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5093208"/>
            <a:ext cx="5413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I3: Supplier Data Pipeline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8912" y="543153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 →  Procurement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Finance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17720" y="5111496"/>
            <a:ext cx="1234440" cy="292608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511149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/ 2026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38912" y="5733288"/>
            <a:ext cx="54132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builds API intake → Procurement maps top 20 suppliers → Finance uses activity data not estimates → S3 drops from 65% estimated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63640" y="1783080"/>
            <a:ext cx="5623560" cy="14630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63640" y="1783080"/>
            <a:ext cx="73152" cy="14630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8232" y="1856232"/>
            <a:ext cx="5367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I4: Internal Carbon Pricing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28232" y="2194560"/>
            <a:ext cx="28117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CxO  →  All Teams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561320" y="1874520"/>
            <a:ext cx="1234440" cy="29260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61320" y="18745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2026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428232" y="2496312"/>
            <a:ext cx="536752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CxO sets shadow price (£100/tCO₂e) → Finance embeds in capex templates → Every team self-filters high-carbon decisions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63640" y="3401568"/>
            <a:ext cx="5623560" cy="14630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3401568"/>
            <a:ext cx="73152" cy="14630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28232" y="3474720"/>
            <a:ext cx="5367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I6: Green Skills Programme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28232" y="3813048"/>
            <a:ext cx="28117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CxO  →  All Teams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561320" y="3493008"/>
            <a:ext cx="1234440" cy="292608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61320" y="349300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/ 2025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428232" y="4114800"/>
            <a:ext cx="536752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conducts GSIP assessment → CxO approves L&amp;D budget → Sustained Futures delivers programme → All pillars de-risked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Roadmap — Legal + Procurement First  (2025–2026)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1430000" cy="3474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1773936" cy="34747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194560" y="1097280"/>
            <a:ext cx="1865376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1097280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0" y="1097280"/>
            <a:ext cx="1865376" cy="347472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1097280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1865376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097280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955280" y="1097280"/>
            <a:ext cx="1865376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1097280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875520" y="1097280"/>
            <a:ext cx="1956816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0" y="1097280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Q2–Q4 2026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" y="1572768"/>
            <a:ext cx="56235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1572768"/>
            <a:ext cx="640080" cy="153619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075688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0040" y="268833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2025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051560" y="1664208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GSIP Baseline Assessment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208483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HR + Legal + Procurement + CxO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1560" y="2377440"/>
            <a:ext cx="4800600" cy="62179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459736"/>
            <a:ext cx="256032" cy="25603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417320" y="244144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scorecard; CxO mandate; shadow carbon price set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20040" y="3255264"/>
            <a:ext cx="56235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0040" y="3255264"/>
            <a:ext cx="640080" cy="15361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0040" y="3758184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S1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320040" y="437083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2025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1051560" y="3346704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Contract Law Module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051560" y="376732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Legal (primary)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1051560" y="4059936"/>
            <a:ext cx="4800600" cy="62179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4142232"/>
            <a:ext cx="256032" cy="256032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417320" y="412394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clause library; 2+ contracts in renegotiation; CSRD basics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320040" y="4937760"/>
            <a:ext cx="56235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320040" y="4937760"/>
            <a:ext cx="640080" cy="1536192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20040" y="5440680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S2</a:t>
            </a:r>
            <a:endParaRPr lang="en-US" sz="1600" dirty="0"/>
          </a:p>
        </p:txBody>
      </p:sp>
      <p:sp>
        <p:nvSpPr>
          <p:cNvPr id="38" name="Text 34"/>
          <p:cNvSpPr/>
          <p:nvPr/>
        </p:nvSpPr>
        <p:spPr>
          <a:xfrm>
            <a:off x="320040" y="605332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</a:t>
            </a:r>
            <a:endParaRPr lang="en-US" sz="750" dirty="0"/>
          </a:p>
        </p:txBody>
      </p:sp>
      <p:sp>
        <p:nvSpPr>
          <p:cNvPr id="39" name="Text 35"/>
          <p:cNvSpPr/>
          <p:nvPr/>
        </p:nvSpPr>
        <p:spPr>
          <a:xfrm>
            <a:off x="1051560" y="502920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Supplier Engagement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1051560" y="5449824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Procurement (primary)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1051560" y="5742432"/>
            <a:ext cx="4800600" cy="62179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5824728"/>
            <a:ext cx="256032" cy="256032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1417320" y="58064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suppliers mapped; data disclosure requests issued to 5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6263640" y="1572768"/>
            <a:ext cx="56235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0"/>
          <p:cNvSpPr/>
          <p:nvPr/>
        </p:nvSpPr>
        <p:spPr>
          <a:xfrm>
            <a:off x="6263640" y="1572768"/>
            <a:ext cx="640080" cy="15361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6263640" y="2075688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S3</a:t>
            </a:r>
            <a:endParaRPr lang="en-US" sz="1600" dirty="0"/>
          </a:p>
        </p:txBody>
      </p:sp>
      <p:sp>
        <p:nvSpPr>
          <p:cNvPr id="47" name="Text 42"/>
          <p:cNvSpPr/>
          <p:nvPr/>
        </p:nvSpPr>
        <p:spPr>
          <a:xfrm>
            <a:off x="6263640" y="268833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</a:t>
            </a:r>
            <a:endParaRPr lang="en-US" sz="750" dirty="0"/>
          </a:p>
        </p:txBody>
      </p:sp>
      <p:sp>
        <p:nvSpPr>
          <p:cNvPr id="48" name="Text 43"/>
          <p:cNvSpPr/>
          <p:nvPr/>
        </p:nvSpPr>
        <p:spPr>
          <a:xfrm>
            <a:off x="6995160" y="1664208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Negotiation Playbook</a:t>
            </a:r>
            <a:endParaRPr lang="en-US" sz="1200" dirty="0"/>
          </a:p>
        </p:txBody>
      </p:sp>
      <p:sp>
        <p:nvSpPr>
          <p:cNvPr id="49" name="Text 44"/>
          <p:cNvSpPr/>
          <p:nvPr/>
        </p:nvSpPr>
        <p:spPr>
          <a:xfrm>
            <a:off x="6995160" y="208483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Legal + Procurement</a:t>
            </a:r>
            <a:endParaRPr lang="en-US" sz="900" dirty="0"/>
          </a:p>
        </p:txBody>
      </p:sp>
      <p:sp>
        <p:nvSpPr>
          <p:cNvPr id="50" name="Shape 45"/>
          <p:cNvSpPr/>
          <p:nvPr/>
        </p:nvSpPr>
        <p:spPr>
          <a:xfrm>
            <a:off x="6995160" y="2377440"/>
            <a:ext cx="4800600" cy="62179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2459736"/>
            <a:ext cx="256032" cy="256032"/>
          </a:xfrm>
          <a:prstGeom prst="rect">
            <a:avLst/>
          </a:prstGeom>
        </p:spPr>
      </p:pic>
      <p:sp>
        <p:nvSpPr>
          <p:cNvPr id="52" name="Text 46"/>
          <p:cNvSpPr/>
          <p:nvPr/>
        </p:nvSpPr>
        <p:spPr>
          <a:xfrm>
            <a:off x="7360920" y="244144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supplier commits to SBTi target; joint playbook approved</a:t>
            </a:r>
            <a:endParaRPr lang="en-US" sz="900" dirty="0"/>
          </a:p>
        </p:txBody>
      </p:sp>
      <p:sp>
        <p:nvSpPr>
          <p:cNvPr id="53" name="Shape 47"/>
          <p:cNvSpPr/>
          <p:nvPr/>
        </p:nvSpPr>
        <p:spPr>
          <a:xfrm>
            <a:off x="6263640" y="3255264"/>
            <a:ext cx="56235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Shape 48"/>
          <p:cNvSpPr/>
          <p:nvPr/>
        </p:nvSpPr>
        <p:spPr>
          <a:xfrm>
            <a:off x="6263640" y="3255264"/>
            <a:ext cx="640080" cy="15361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6263640" y="3758184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S4</a:t>
            </a:r>
            <a:endParaRPr lang="en-US" sz="1600" dirty="0"/>
          </a:p>
        </p:txBody>
      </p:sp>
      <p:sp>
        <p:nvSpPr>
          <p:cNvPr id="56" name="Text 50"/>
          <p:cNvSpPr/>
          <p:nvPr/>
        </p:nvSpPr>
        <p:spPr>
          <a:xfrm>
            <a:off x="6263640" y="437083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750" dirty="0"/>
          </a:p>
        </p:txBody>
      </p:sp>
      <p:sp>
        <p:nvSpPr>
          <p:cNvPr id="57" name="Text 51"/>
          <p:cNvSpPr/>
          <p:nvPr/>
        </p:nvSpPr>
        <p:spPr>
          <a:xfrm>
            <a:off x="6995160" y="3346704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PCF Programme Launches</a:t>
            </a:r>
            <a:endParaRPr lang="en-US" sz="1200" dirty="0"/>
          </a:p>
        </p:txBody>
      </p:sp>
      <p:sp>
        <p:nvSpPr>
          <p:cNvPr id="58" name="Text 52"/>
          <p:cNvSpPr/>
          <p:nvPr/>
        </p:nvSpPr>
        <p:spPr>
          <a:xfrm>
            <a:off x="6995160" y="376732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+ Marketing joins</a:t>
            </a:r>
            <a:endParaRPr lang="en-US" sz="900" dirty="0"/>
          </a:p>
        </p:txBody>
      </p:sp>
      <p:sp>
        <p:nvSpPr>
          <p:cNvPr id="59" name="Shape 53"/>
          <p:cNvSpPr/>
          <p:nvPr/>
        </p:nvSpPr>
        <p:spPr>
          <a:xfrm>
            <a:off x="6995160" y="4059936"/>
            <a:ext cx="4800600" cy="62179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6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4142232"/>
            <a:ext cx="256032" cy="256032"/>
          </a:xfrm>
          <a:prstGeom prst="rect">
            <a:avLst/>
          </a:prstGeom>
        </p:spPr>
      </p:pic>
      <p:sp>
        <p:nvSpPr>
          <p:cNvPr id="61" name="Text 54"/>
          <p:cNvSpPr/>
          <p:nvPr/>
        </p:nvSpPr>
        <p:spPr>
          <a:xfrm>
            <a:off x="7360920" y="412394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PCF within 20% accuracy; Green Claims Code checklist</a:t>
            </a:r>
            <a:endParaRPr lang="en-US" sz="900" dirty="0"/>
          </a:p>
        </p:txBody>
      </p:sp>
      <p:sp>
        <p:nvSpPr>
          <p:cNvPr id="62" name="Shape 55"/>
          <p:cNvSpPr/>
          <p:nvPr/>
        </p:nvSpPr>
        <p:spPr>
          <a:xfrm>
            <a:off x="6263640" y="4937760"/>
            <a:ext cx="56235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3" name="Shape 56"/>
          <p:cNvSpPr/>
          <p:nvPr/>
        </p:nvSpPr>
        <p:spPr>
          <a:xfrm>
            <a:off x="6263640" y="4937760"/>
            <a:ext cx="640080" cy="153619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64" name="Text 57"/>
          <p:cNvSpPr/>
          <p:nvPr/>
        </p:nvSpPr>
        <p:spPr>
          <a:xfrm>
            <a:off x="6263640" y="5440680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S5</a:t>
            </a:r>
            <a:endParaRPr lang="en-US" sz="1600" dirty="0"/>
          </a:p>
        </p:txBody>
      </p:sp>
      <p:sp>
        <p:nvSpPr>
          <p:cNvPr id="65" name="Text 58"/>
          <p:cNvSpPr/>
          <p:nvPr/>
        </p:nvSpPr>
        <p:spPr>
          <a:xfrm>
            <a:off x="6263640" y="605332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Q2–Q4 2026</a:t>
            </a:r>
            <a:endParaRPr lang="en-US" sz="750" dirty="0"/>
          </a:p>
        </p:txBody>
      </p:sp>
      <p:sp>
        <p:nvSpPr>
          <p:cNvPr id="66" name="Text 59"/>
          <p:cNvSpPr/>
          <p:nvPr/>
        </p:nvSpPr>
        <p:spPr>
          <a:xfrm>
            <a:off x="6995160" y="502920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CSRD + Supplier Summit</a:t>
            </a:r>
            <a:endParaRPr lang="en-US" sz="1200" dirty="0"/>
          </a:p>
        </p:txBody>
      </p:sp>
      <p:sp>
        <p:nvSpPr>
          <p:cNvPr id="67" name="Text 60"/>
          <p:cNvSpPr/>
          <p:nvPr/>
        </p:nvSpPr>
        <p:spPr>
          <a:xfrm>
            <a:off x="6995160" y="5449824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+ Finance + IT</a:t>
            </a:r>
            <a:endParaRPr lang="en-US" sz="900" dirty="0"/>
          </a:p>
        </p:txBody>
      </p:sp>
      <p:sp>
        <p:nvSpPr>
          <p:cNvPr id="68" name="Shape 61"/>
          <p:cNvSpPr/>
          <p:nvPr/>
        </p:nvSpPr>
        <p:spPr>
          <a:xfrm>
            <a:off x="6995160" y="5742432"/>
            <a:ext cx="4800600" cy="62179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6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5824728"/>
            <a:ext cx="256032" cy="256032"/>
          </a:xfrm>
          <a:prstGeom prst="rect">
            <a:avLst/>
          </a:prstGeom>
        </p:spPr>
      </p:pic>
      <p:sp>
        <p:nvSpPr>
          <p:cNvPr id="70" name="Text 62"/>
          <p:cNvSpPr/>
          <p:nvPr/>
        </p:nvSpPr>
        <p:spPr>
          <a:xfrm>
            <a:off x="7360920" y="58064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CSRD assessment published; S3 estimated drops 65% → &lt;45%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Pareto Priority — Risk &amp; Reward in £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interventions deliver ~80% of required Scope 3 intensity reduction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5120640" cy="51206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54480"/>
            <a:ext cx="5115519" cy="5120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96128" y="1554480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Climate Clauses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(Legal + Procurement)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926799" y="162763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 |  ~3,000 tCO₂e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2304288"/>
            <a:ext cx="5120640" cy="51206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304288"/>
            <a:ext cx="4262933" cy="512064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96128" y="2304288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&amp; Merchandise PCF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(Procurement + Marketing)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74213" y="23774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 |  ~2,200 tCO₂e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3054096"/>
            <a:ext cx="5120640" cy="51206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054096"/>
            <a:ext cx="4262933" cy="5120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96128" y="3054096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Skills Programme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(HR + All Teams)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074213" y="312724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 |  Enables all tCO₂e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3803904"/>
            <a:ext cx="5120640" cy="51206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803904"/>
            <a:ext cx="2046208" cy="51206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96128" y="3803904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BMS Optimisation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(Operations + IT)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7488" y="387705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 |  ~1,200 tCO₂e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4553712"/>
            <a:ext cx="5120640" cy="51206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553712"/>
            <a:ext cx="852587" cy="51206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96128" y="4553712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Logistics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(Arsenal Direct)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-336133" y="4626864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 |  ~300 tCO₂e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5303520"/>
            <a:ext cx="5120640" cy="51206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5303520"/>
            <a:ext cx="511552" cy="5120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96128" y="5303520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-677168" y="537667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 |  ~200 tCO₂e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5349240"/>
            <a:ext cx="374904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5349240"/>
            <a:ext cx="3749040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5349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SBTi Non-Compliance Risk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5760" y="5733288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WITHOUT: £2–5m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2103120" y="5733288"/>
            <a:ext cx="54864" cy="7132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12848" y="5733288"/>
            <a:ext cx="1719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SF: £5–13m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251960" y="5349240"/>
            <a:ext cx="374904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51960" y="5349240"/>
            <a:ext cx="3749040" cy="3200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51960" y="5349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CSRD Non-Compliance Risk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343400" y="5733288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WITHOUT: £0.5–2m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6080760" y="5733288"/>
            <a:ext cx="54864" cy="7132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90488" y="5733288"/>
            <a:ext cx="1719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SF: £0.7–2.5m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8229600" y="5349240"/>
            <a:ext cx="374904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29600" y="5349240"/>
            <a:ext cx="3749040" cy="3200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0" y="5349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PCF / CMA Liability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321040" y="5733288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WITHOUT: £0.5–2m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0058400" y="5733288"/>
            <a:ext cx="54864" cy="7132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168128" y="5733288"/>
            <a:ext cx="1719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SF: £1.5–5m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Problem — And How to Solve 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1612880" cy="10058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73152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15568"/>
            <a:ext cx="11430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"Approximately 65% of Arsenal's total emissions were generated by estimation — almost entirely due to fan travel, employee commuting, supply chain, and e-commerce freight. Emissions from these sources are likely to remain estimated unless 100% data completeness is achieved."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Arsenal Holdings Limited Annual Report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2286000"/>
            <a:ext cx="58521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0" y="2286000"/>
            <a:ext cx="109728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22860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377440"/>
            <a:ext cx="347472" cy="34747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65760" y="2377440"/>
            <a:ext cx="347472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7744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22960" y="23591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Spend Data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822960" y="2724912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S3 Cat 1  |  Owner: Procurement + IT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365760" y="2999232"/>
            <a:ext cx="2750515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Spend-based estimates only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3134563" y="3063240"/>
            <a:ext cx="27432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4563" y="3063240"/>
            <a:ext cx="274320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500323" y="299923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Activity data from top 20 suppliers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274320" y="3730752"/>
            <a:ext cx="58521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029200" y="3730752"/>
            <a:ext cx="109728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029200" y="373075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822192"/>
            <a:ext cx="347472" cy="347472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365760" y="3822192"/>
            <a:ext cx="347472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822192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22960" y="38039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Material Composition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822960" y="4169664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S3 Cat 11  |  Owner: Marketing + Procurement</a:t>
            </a:r>
            <a:endParaRPr lang="en-US" sz="850" dirty="0"/>
          </a:p>
        </p:txBody>
      </p:sp>
      <p:sp>
        <p:nvSpPr>
          <p:cNvPr id="28" name="Text 21"/>
          <p:cNvSpPr/>
          <p:nvPr/>
        </p:nvSpPr>
        <p:spPr>
          <a:xfrm>
            <a:off x="365760" y="4443984"/>
            <a:ext cx="2750515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Not tracked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3134563" y="4507992"/>
            <a:ext cx="27432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4563" y="4507992"/>
            <a:ext cx="274320" cy="25603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500323" y="444398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Material passport per SKU from Adidas</a:t>
            </a:r>
            <a:endParaRPr lang="en-US" sz="850" dirty="0"/>
          </a:p>
        </p:txBody>
      </p:sp>
      <p:sp>
        <p:nvSpPr>
          <p:cNvPr id="32" name="Shape 24"/>
          <p:cNvSpPr/>
          <p:nvPr/>
        </p:nvSpPr>
        <p:spPr>
          <a:xfrm>
            <a:off x="274320" y="5175504"/>
            <a:ext cx="58521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5029200" y="5175504"/>
            <a:ext cx="109728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5029200" y="517550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5266944"/>
            <a:ext cx="347472" cy="347472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365760" y="5266944"/>
            <a:ext cx="347472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" y="5266944"/>
            <a:ext cx="347472" cy="347472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822960" y="524865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Intensity Metric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(£/tCO₂e)</a:t>
            </a:r>
            <a:endParaRPr lang="en-US" sz="1100" dirty="0"/>
          </a:p>
        </p:txBody>
      </p:sp>
      <p:sp>
        <p:nvSpPr>
          <p:cNvPr id="39" name="Text 29"/>
          <p:cNvSpPr/>
          <p:nvPr/>
        </p:nvSpPr>
        <p:spPr>
          <a:xfrm>
            <a:off x="822960" y="5614416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All S3  |  Owner: Finance + ESG</a:t>
            </a:r>
            <a:endParaRPr lang="en-US" sz="850" dirty="0"/>
          </a:p>
        </p:txBody>
      </p:sp>
      <p:sp>
        <p:nvSpPr>
          <p:cNvPr id="40" name="Text 30"/>
          <p:cNvSpPr/>
          <p:nvPr/>
        </p:nvSpPr>
        <p:spPr>
          <a:xfrm>
            <a:off x="365760" y="5888736"/>
            <a:ext cx="2750515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Calculated annually in AR only</a:t>
            </a:r>
            <a:endParaRPr lang="en-US" sz="850" dirty="0"/>
          </a:p>
        </p:txBody>
      </p:sp>
      <p:sp>
        <p:nvSpPr>
          <p:cNvPr id="41" name="Shape 31"/>
          <p:cNvSpPr/>
          <p:nvPr/>
        </p:nvSpPr>
        <p:spPr>
          <a:xfrm>
            <a:off x="3134563" y="5952744"/>
            <a:ext cx="27432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34563" y="5952744"/>
            <a:ext cx="274320" cy="256032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3500323" y="588873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Quarterly dashboard tracking vs target</a:t>
            </a:r>
            <a:endParaRPr lang="en-US" sz="850" dirty="0"/>
          </a:p>
        </p:txBody>
      </p:sp>
      <p:sp>
        <p:nvSpPr>
          <p:cNvPr id="44" name="Shape 33"/>
          <p:cNvSpPr/>
          <p:nvPr/>
        </p:nvSpPr>
        <p:spPr>
          <a:xfrm>
            <a:off x="6400800" y="2286000"/>
            <a:ext cx="54864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34"/>
          <p:cNvSpPr/>
          <p:nvPr/>
        </p:nvSpPr>
        <p:spPr>
          <a:xfrm>
            <a:off x="10789920" y="2286000"/>
            <a:ext cx="1097280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6" name="Text 35"/>
          <p:cNvSpPr/>
          <p:nvPr/>
        </p:nvSpPr>
        <p:spPr>
          <a:xfrm>
            <a:off x="10789920" y="22860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2377440"/>
            <a:ext cx="347472" cy="347472"/>
          </a:xfrm>
          <a:prstGeom prst="rect">
            <a:avLst/>
          </a:prstGeom>
        </p:spPr>
      </p:pic>
      <p:sp>
        <p:nvSpPr>
          <p:cNvPr id="48" name="Shape 36"/>
          <p:cNvSpPr/>
          <p:nvPr/>
        </p:nvSpPr>
        <p:spPr>
          <a:xfrm>
            <a:off x="6492240" y="2377440"/>
            <a:ext cx="347472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2240" y="2377440"/>
            <a:ext cx="347472" cy="347472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6949440" y="23591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Commuting</a:t>
            </a:r>
            <a:endParaRPr lang="en-US" sz="1100" dirty="0"/>
          </a:p>
        </p:txBody>
      </p:sp>
      <p:sp>
        <p:nvSpPr>
          <p:cNvPr id="51" name="Text 38"/>
          <p:cNvSpPr/>
          <p:nvPr/>
        </p:nvSpPr>
        <p:spPr>
          <a:xfrm>
            <a:off x="6949440" y="2724912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S3 Cat 7  |  Owner: HR + IT</a:t>
            </a:r>
            <a:endParaRPr lang="en-US" sz="850" dirty="0"/>
          </a:p>
        </p:txBody>
      </p:sp>
      <p:sp>
        <p:nvSpPr>
          <p:cNvPr id="52" name="Text 39"/>
          <p:cNvSpPr/>
          <p:nvPr/>
        </p:nvSpPr>
        <p:spPr>
          <a:xfrm>
            <a:off x="6492240" y="2999232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Estimated from postcodes</a:t>
            </a:r>
            <a:endParaRPr lang="en-US" sz="850" dirty="0"/>
          </a:p>
        </p:txBody>
      </p:sp>
      <p:sp>
        <p:nvSpPr>
          <p:cNvPr id="53" name="Shape 40"/>
          <p:cNvSpPr/>
          <p:nvPr/>
        </p:nvSpPr>
        <p:spPr>
          <a:xfrm>
            <a:off x="9089136" y="3063240"/>
            <a:ext cx="27432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5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89136" y="3063240"/>
            <a:ext cx="274320" cy="256032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9454896" y="299923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Annual survey + TfL API</a:t>
            </a:r>
            <a:endParaRPr lang="en-US" sz="850" dirty="0"/>
          </a:p>
        </p:txBody>
      </p:sp>
      <p:sp>
        <p:nvSpPr>
          <p:cNvPr id="56" name="Shape 42"/>
          <p:cNvSpPr/>
          <p:nvPr/>
        </p:nvSpPr>
        <p:spPr>
          <a:xfrm>
            <a:off x="6400800" y="3730752"/>
            <a:ext cx="54864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7" name="Shape 43"/>
          <p:cNvSpPr/>
          <p:nvPr/>
        </p:nvSpPr>
        <p:spPr>
          <a:xfrm>
            <a:off x="10789920" y="3730752"/>
            <a:ext cx="1097280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8" name="Text 44"/>
          <p:cNvSpPr/>
          <p:nvPr/>
        </p:nvSpPr>
        <p:spPr>
          <a:xfrm>
            <a:off x="10789920" y="373075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pic>
        <p:nvPicPr>
          <p:cNvPr id="5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2240" y="3822192"/>
            <a:ext cx="347472" cy="347472"/>
          </a:xfrm>
          <a:prstGeom prst="rect">
            <a:avLst/>
          </a:prstGeom>
        </p:spPr>
      </p:pic>
      <p:sp>
        <p:nvSpPr>
          <p:cNvPr id="60" name="Shape 45"/>
          <p:cNvSpPr/>
          <p:nvPr/>
        </p:nvSpPr>
        <p:spPr>
          <a:xfrm>
            <a:off x="6492240" y="3822192"/>
            <a:ext cx="347472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6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92240" y="3822192"/>
            <a:ext cx="347472" cy="347472"/>
          </a:xfrm>
          <a:prstGeom prst="rect">
            <a:avLst/>
          </a:prstGeom>
        </p:spPr>
      </p:pic>
      <p:sp>
        <p:nvSpPr>
          <p:cNvPr id="62" name="Text 46"/>
          <p:cNvSpPr/>
          <p:nvPr/>
        </p:nvSpPr>
        <p:spPr>
          <a:xfrm>
            <a:off x="6949440" y="380390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Arsenal Direct Delivery</a:t>
            </a:r>
            <a:endParaRPr lang="en-US" sz="1100" dirty="0"/>
          </a:p>
        </p:txBody>
      </p:sp>
      <p:sp>
        <p:nvSpPr>
          <p:cNvPr id="63" name="Text 47"/>
          <p:cNvSpPr/>
          <p:nvPr/>
        </p:nvSpPr>
        <p:spPr>
          <a:xfrm>
            <a:off x="6949440" y="416966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S3 Cat 9  |  Owner: Logistics + IT</a:t>
            </a:r>
            <a:endParaRPr lang="en-US" sz="850" dirty="0"/>
          </a:p>
        </p:txBody>
      </p:sp>
      <p:sp>
        <p:nvSpPr>
          <p:cNvPr id="64" name="Text 48"/>
          <p:cNvSpPr/>
          <p:nvPr/>
        </p:nvSpPr>
        <p:spPr>
          <a:xfrm>
            <a:off x="6492240" y="4443984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Estimated from parcel volume</a:t>
            </a:r>
            <a:endParaRPr lang="en-US" sz="850" dirty="0"/>
          </a:p>
        </p:txBody>
      </p:sp>
      <p:sp>
        <p:nvSpPr>
          <p:cNvPr id="65" name="Shape 49"/>
          <p:cNvSpPr/>
          <p:nvPr/>
        </p:nvSpPr>
        <p:spPr>
          <a:xfrm>
            <a:off x="9089136" y="4507992"/>
            <a:ext cx="27432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6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89136" y="4507992"/>
            <a:ext cx="274320" cy="256032"/>
          </a:xfrm>
          <a:prstGeom prst="rect">
            <a:avLst/>
          </a:prstGeom>
        </p:spPr>
      </p:pic>
      <p:sp>
        <p:nvSpPr>
          <p:cNvPr id="67" name="Text 50"/>
          <p:cNvSpPr/>
          <p:nvPr/>
        </p:nvSpPr>
        <p:spPr>
          <a:xfrm>
            <a:off x="9454896" y="4443984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Carrier emission factor API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Engagement — Sustained Futures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91440"/>
            <a:ext cx="1097280" cy="7498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051560"/>
            <a:ext cx="11612880" cy="54864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0515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work as Arsenal's embedded green skills partner — not a one-off training provider. The retainer model matches the permanence of the SBTi obligation.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1737360"/>
            <a:ext cx="3749040" cy="47548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737360"/>
            <a:ext cx="3749040" cy="56692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173736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 |  Year 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65760" y="239572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£8–12k/month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65760" y="28986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~£96–144k annually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65760" y="3246120"/>
            <a:ext cx="3566160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33649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11480" y="36118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GSIP Assessment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Module (Sprints 0–3)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Module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reporting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65760" y="4773168"/>
            <a:ext cx="3566160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" y="4864608"/>
            <a:ext cx="3566160" cy="1444752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49194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ROI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57200" y="5193792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£2–7m risk protection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CSRD compliance readiness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SBTi 2030 trajectory set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251960" y="1737360"/>
            <a:ext cx="3749040" cy="47548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251960" y="1737360"/>
            <a:ext cx="3749040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51960" y="173736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 |  Year 2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343400" y="239572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£10–15k/month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4343400" y="28986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~£120–180k annually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343400" y="3246120"/>
            <a:ext cx="3566160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89120" y="33649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389120" y="36118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PCF Programme (Marketing)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data pipeline advisory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CSRD readiness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reviews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343400" y="4773168"/>
            <a:ext cx="3566160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343400" y="4864608"/>
            <a:ext cx="3566160" cy="1444752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434840" y="49194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ROI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434840" y="5193792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£1–3m partnership revenue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PCF built &amp; substantiated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data quality improving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8229600" y="1737360"/>
            <a:ext cx="3749040" cy="47548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29600" y="1737360"/>
            <a:ext cx="3749040" cy="56692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29600" y="173736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 |  Year 3+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8321040" y="239572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£12–18k/month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8321040" y="28986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~£144–216k annually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8321040" y="3246120"/>
            <a:ext cx="3566160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366760" y="33649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8366760" y="36118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teams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GSIP re-score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SBTi annual report support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summit design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8321040" y="4773168"/>
            <a:ext cx="3566160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321040" y="4864608"/>
            <a:ext cx="3566160" cy="1444752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412480" y="49194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ROI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8412480" y="5193792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£3–8m brand value protected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sustainability leadership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SBTi accountability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9B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0"/>
            <a:ext cx="4663440" cy="685800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8229600" y="1371600"/>
            <a:ext cx="320040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5720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365760" y="2331720"/>
            <a:ext cx="6675120" cy="960120"/>
          </a:xfrm>
          <a:prstGeom prst="rect">
            <a:avLst/>
          </a:prstGeom>
          <a:solidFill>
            <a:srgbClr val="7F1D1D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2331720"/>
            <a:ext cx="548640" cy="960120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25877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5840" y="2386584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Workshop (2 hrs)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2734056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blueprint with Hannah Mansour + key team leads.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maturity scores. Agree CxO mandate and carbon price.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0" y="2606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5760" y="3429000"/>
            <a:ext cx="6675120" cy="960120"/>
          </a:xfrm>
          <a:prstGeom prst="rect">
            <a:avLst/>
          </a:prstGeom>
          <a:solidFill>
            <a:srgbClr val="7F1D1D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" y="3429000"/>
            <a:ext cx="548640" cy="960120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368503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005840" y="3483864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GSIP Assessment Kick-Off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" y="3831336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conducts role-level skills gap interviews across Legal (3 roles)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Procurement (4 roles). Validated maturity scorecard delivered.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486400" y="37033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65760" y="4526280"/>
            <a:ext cx="6675120" cy="960120"/>
          </a:xfrm>
          <a:prstGeom prst="rect">
            <a:avLst/>
          </a:prstGeom>
          <a:solidFill>
            <a:srgbClr val="7F1D1D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65760" y="4526280"/>
            <a:ext cx="548640" cy="960120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47823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005840" y="4581144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 Agreement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05840" y="4928616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Foundation Tier (£8–12k/month). Define success metrics,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cadence, Sprint 1 start date.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486400" y="48006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April–May 2026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65760" y="5623560"/>
            <a:ext cx="6675120" cy="960120"/>
          </a:xfrm>
          <a:prstGeom prst="rect">
            <a:avLst/>
          </a:prstGeom>
          <a:solidFill>
            <a:srgbClr val="7F1D1D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65760" y="5623560"/>
            <a:ext cx="548640" cy="960120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58795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005840" y="5678424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— Legal Module Begins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005840" y="6025896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contract law workshop. CSRD basics.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clause library first draft. Review with General Counsel.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486400" y="58978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May–June 2026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65760" y="64922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Futures  |  sustainedfutures.com  |  March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Arsenal FC | GSIP Blueprint | Sustained Futures</dc:title>
  <dc:subject>PptxGenJS Presentation</dc:subject>
  <dc:creator>PptxGenJS</dc:creator>
  <cp:lastModifiedBy>PptxGenJS</cp:lastModifiedBy>
  <cp:revision>1</cp:revision>
  <dcterms:created xsi:type="dcterms:W3CDTF">2026-03-06T16:15:07Z</dcterms:created>
  <dcterms:modified xsi:type="dcterms:W3CDTF">2026-03-06T16:15:07Z</dcterms:modified>
</cp:coreProperties>
</file>